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3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6B6D4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891B2">
              <a:alpha val="12000"/>
            </a:srgbClr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4000" b="1" kern="0" spc="300" dirty="0" smtClean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kern="0" spc="3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4000" b="1" kern="0" spc="3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Dress Code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3200" b="1" kern="0" spc="200" dirty="0" smtClean="0">
              <a:solidFill>
                <a:srgbClr val="06B6D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kern="0" spc="200" dirty="0" smtClean="0">
                <a:solidFill>
                  <a:srgbClr val="06B6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Compliance </a:t>
            </a:r>
            <a:r>
              <a:rPr lang="en-US" sz="3200" b="1" kern="0" spc="200" dirty="0">
                <a:solidFill>
                  <a:srgbClr val="06B6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1600" dirty="0" smtClean="0">
              <a:solidFill>
                <a:schemeClr val="bg1"/>
              </a:solidFill>
              <a:latin typeface="Trebuchet MS" panose="020B0603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 smtClean="0">
                <a:solidFill>
                  <a:schemeClr val="bg1"/>
                </a:solidFill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</a:t>
            </a: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Powered Real Time Dress Code Detection via CCTV</a:t>
            </a:r>
            <a:endParaRPr lang="en-US" sz="1600" dirty="0">
              <a:solidFill>
                <a:schemeClr val="bg1"/>
              </a:solidFill>
              <a:latin typeface="Trebuchet MS" panose="020B0603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347472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548575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772529" y="3594295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723292" y="4009293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>
              <a:solidFill>
                <a:schemeClr val="bg1">
                  <a:lumMod val="95000"/>
                </a:schemeClr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PROBLEM STATEMENT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329184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" name="Text 4"/>
          <p:cNvSpPr/>
          <p:nvPr/>
        </p:nvSpPr>
        <p:spPr>
          <a:xfrm>
            <a:off x="914400" y="13716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EF444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004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Manual Dress Code checking at Gates.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Slow, Inconsistent and Error Prone.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No Record of Violation.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HR has zero data about compliance trends.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Negligence in Policy Implementation by Staff at gate.</a:t>
            </a:r>
            <a:endParaRPr lang="en-US" sz="1200" dirty="0">
              <a:latin typeface="Trebuchet MS" panose="020B0603020202020204" pitchFamily="34" charset="0"/>
            </a:endParaRPr>
          </a:p>
          <a:p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64008" cy="32918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0" name="Text 8"/>
          <p:cNvSpPr/>
          <p:nvPr/>
        </p:nvSpPr>
        <p:spPr>
          <a:xfrm>
            <a:off x="5120640" y="13716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</a:t>
            </a:r>
            <a:r>
              <a:rPr lang="en-US" sz="1800" b="1" dirty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It </a:t>
            </a:r>
            <a:r>
              <a:rPr lang="en-US" sz="1800" b="1" dirty="0" smtClean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Matters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874520"/>
            <a:ext cx="32004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Inconsistent implementation damages work culture and discipline.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No data means no accountability.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Management cannot make informed decisions about policy.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rebuchet MS" panose="020B0603020202020204" pitchFamily="34" charset="0"/>
              </a:rPr>
              <a:t>Scaling Manual checking on multiple entrances is expensive.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SOLUTION OVERVIEW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Features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1E293B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Real Time Dress Code Check via CCTV feed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1E293B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YOLOv8 Model for Detection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 smtClean="0">
                <a:solidFill>
                  <a:srgbClr val="1E293B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 Box for Compliant, Red for Noncompliant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 smtClean="0">
                <a:solidFill>
                  <a:srgbClr val="1E293B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Snapshot saving on Violation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 smtClean="0">
                <a:solidFill>
                  <a:srgbClr val="1E293B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Report Generation to HR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47846" y="960120"/>
            <a:ext cx="366463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Value Proposition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37760" y="13716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Automated System, no hiring for checking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 smtClean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AI ensures unbiased monitoring, no partiality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 smtClean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Effective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 smtClean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privacy, data stays local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 smtClean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Scaled on multiple cameras in future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8" name="Shape 6"/>
          <p:cNvSpPr/>
          <p:nvPr/>
        </p:nvSpPr>
        <p:spPr>
          <a:xfrm>
            <a:off x="777240" y="4069080"/>
            <a:ext cx="137160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9" name="Text 7"/>
          <p:cNvSpPr/>
          <p:nvPr/>
        </p:nvSpPr>
        <p:spPr>
          <a:xfrm>
            <a:off x="777240" y="40690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06B6D4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4069080"/>
            <a:ext cx="137160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1" name="Text 9"/>
          <p:cNvSpPr/>
          <p:nvPr/>
        </p:nvSpPr>
        <p:spPr>
          <a:xfrm>
            <a:off x="2377440" y="40690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06B6D4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YOLOv8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4069080"/>
            <a:ext cx="137160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3" name="Text 11"/>
          <p:cNvSpPr/>
          <p:nvPr/>
        </p:nvSpPr>
        <p:spPr>
          <a:xfrm>
            <a:off x="3977640" y="40690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 smtClean="0">
                <a:solidFill>
                  <a:srgbClr val="06B6D4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OpenCV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4069080"/>
            <a:ext cx="137160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5" name="Text 13"/>
          <p:cNvSpPr/>
          <p:nvPr/>
        </p:nvSpPr>
        <p:spPr>
          <a:xfrm>
            <a:off x="5577840" y="40690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6B6D4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P</a:t>
            </a:r>
            <a:r>
              <a:rPr lang="en-US" sz="1100" b="1" dirty="0" err="1" smtClean="0">
                <a:solidFill>
                  <a:srgbClr val="06B6D4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yTorch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4069080"/>
            <a:ext cx="137160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7" name="Text 15"/>
          <p:cNvSpPr/>
          <p:nvPr/>
        </p:nvSpPr>
        <p:spPr>
          <a:xfrm>
            <a:off x="7178040" y="40690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06B6D4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Pandas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REQUIREMENTS SUMMARY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Functional Requirements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371599"/>
            <a:ext cx="4114800" cy="822961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0890" y="1479218"/>
            <a:ext cx="54864" cy="6400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777240" y="14173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1200" b="1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sz="12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Real Time Dress Code Detection</a:t>
            </a:r>
            <a:endParaRPr lang="en-US" sz="1200" b="1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1200" b="1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9168" y="1712025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 smtClean="0"/>
          </a:p>
          <a:p>
            <a:pPr marL="0" indent="0">
              <a:buNone/>
            </a:pPr>
            <a:r>
              <a:rPr lang="en-US" sz="1050" dirty="0" smtClean="0">
                <a:latin typeface="Trebuchet MS" panose="020B0603020202020204" pitchFamily="34" charset="0"/>
              </a:rPr>
              <a:t>CCTV camera live stream processes. Shirt, tie, Id detected through YOLOv8 model. Compliant dress code appears in green box, non-compliant in red box.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6179" y="2402764"/>
            <a:ext cx="4114800" cy="911936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" y="2526733"/>
            <a:ext cx="54864" cy="6400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" name="Text 8"/>
          <p:cNvSpPr/>
          <p:nvPr/>
        </p:nvSpPr>
        <p:spPr>
          <a:xfrm>
            <a:off x="802914" y="245745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Violation Logging and Snapshot Capture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03970" y="2853456"/>
            <a:ext cx="3657600" cy="360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334155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Violation, system automatically snapshots with Date, Time and Missing item. Captured Image is then stored in local storage</a:t>
            </a:r>
            <a:endParaRPr lang="en-US" sz="1050" dirty="0" smtClean="0">
              <a:solidFill>
                <a:srgbClr val="334155"/>
              </a:solidFill>
              <a:latin typeface="Trebuchet MS" panose="020B060302020202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459068"/>
            <a:ext cx="4114800" cy="75631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" y="3502504"/>
            <a:ext cx="54864" cy="6400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4" name="Text 12"/>
          <p:cNvSpPr/>
          <p:nvPr/>
        </p:nvSpPr>
        <p:spPr>
          <a:xfrm>
            <a:off x="803970" y="3497931"/>
            <a:ext cx="3200400" cy="295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Daily Compliance Report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1308" y="3793353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334155"/>
                </a:solidFill>
                <a:latin typeface="Trebuchet MS" panose="020B0603020202020204" pitchFamily="34" charset="0"/>
                <a:cs typeface="Calibri" panose="020F0502020204030204" pitchFamily="34" charset="-120"/>
              </a:rPr>
              <a:t>HR Manager generates a daily report of total Detected, Violated and compliant counts.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9144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Non-Functional Requirements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37760" y="1371600"/>
            <a:ext cx="18288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37160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</a:t>
            </a: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endParaRPr lang="en-US" sz="1100" b="1" dirty="0" smtClean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smtClean="0">
                <a:solidFill>
                  <a:srgbClr val="0F172A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15+FPs, detection under 2 sec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8288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37160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  <a:endParaRPr lang="en-US" sz="1100" b="1" dirty="0" smtClean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smtClean="0">
                <a:solidFill>
                  <a:srgbClr val="0F172A"/>
                </a:solidFill>
                <a:latin typeface="Trebuchet MS" panose="020B0603020202020204" pitchFamily="34" charset="0"/>
                <a:cs typeface="Calibri" panose="020F0502020204030204" pitchFamily="34" charset="-120"/>
              </a:rPr>
              <a:t>Password Protected, local, no internet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37760" y="2148840"/>
            <a:ext cx="18288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14884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  <a:endParaRPr lang="en-US" sz="1100" b="1" dirty="0" smtClean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smtClean="0">
                <a:solidFill>
                  <a:srgbClr val="0F172A"/>
                </a:solidFill>
                <a:latin typeface="Trebuchet MS" panose="020B0603020202020204" pitchFamily="34" charset="0"/>
                <a:cs typeface="Calibri" panose="020F0502020204030204" pitchFamily="34" charset="-120"/>
              </a:rPr>
              <a:t>85% accuracy at 300-500 lux lighting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903720" y="2148840"/>
            <a:ext cx="18288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214884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</a:t>
            </a: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  <a:endParaRPr lang="en-US" sz="1100" b="1" dirty="0" smtClean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smtClean="0"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Trained in 15 minutes</a:t>
            </a:r>
            <a:endParaRPr lang="en-US" sz="1100" b="1" dirty="0" smtClean="0">
              <a:latin typeface="Trebuchet MS" panose="020B060302020202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926080"/>
            <a:ext cx="18288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29260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Portability:</a:t>
            </a:r>
            <a:endParaRPr lang="en-US" sz="1100" b="1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smtClean="0">
                <a:solidFill>
                  <a:srgbClr val="0F172A"/>
                </a:solidFill>
                <a:latin typeface="Trebuchet MS" panose="020B0603020202020204" pitchFamily="34" charset="0"/>
                <a:cs typeface="Calibri" panose="020F0502020204030204" pitchFamily="34" charset="-120"/>
              </a:rPr>
              <a:t>Windows 10/11+ Ubuntu 20.04+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03720" y="2926080"/>
            <a:ext cx="182880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29260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Availability:</a:t>
            </a:r>
            <a:endParaRPr lang="en-US" sz="1100" b="1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smtClean="0">
                <a:solidFill>
                  <a:srgbClr val="0F172A"/>
                </a:solidFill>
                <a:latin typeface="Trebuchet MS" panose="020B0603020202020204" pitchFamily="34" charset="0"/>
                <a:cs typeface="Calibri" panose="020F0502020204030204" pitchFamily="34" charset="-120"/>
              </a:rPr>
              <a:t>8hrs continuous, auto restart on error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0247" y="4315968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SRS HIGHLIGHTS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14800" cy="3474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41148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1005840"/>
            <a:ext cx="38404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0" y="1005840"/>
            <a:ext cx="54864" cy="16002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7" name="Shape 5"/>
          <p:cNvSpPr/>
          <p:nvPr/>
        </p:nvSpPr>
        <p:spPr>
          <a:xfrm>
            <a:off x="5166360" y="1143000"/>
            <a:ext cx="548640" cy="256032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8" name="Text 6"/>
          <p:cNvSpPr/>
          <p:nvPr/>
        </p:nvSpPr>
        <p:spPr>
          <a:xfrm>
            <a:off x="5166360" y="1143000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[UC-1]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0" y="11155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Real Time dress code detection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66360" y="155448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Employee enters camera range. System captures frame, YOLOv8 detects clothing items, checks against dress code policy. Compliant = green box, non-compliant = red box and triggers violation logging.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37760" y="2834640"/>
            <a:ext cx="38404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2834640"/>
            <a:ext cx="54864" cy="16002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3" name="Shape 11"/>
          <p:cNvSpPr/>
          <p:nvPr/>
        </p:nvSpPr>
        <p:spPr>
          <a:xfrm>
            <a:off x="5166360" y="2971800"/>
            <a:ext cx="548640" cy="256032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4" name="Text 12"/>
          <p:cNvSpPr/>
          <p:nvPr/>
        </p:nvSpPr>
        <p:spPr>
          <a:xfrm>
            <a:off x="5166360" y="2971800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[UC-2]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29443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Violation Logging &amp; Snapshot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6360" y="338328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Triggered by UC-1 when violation detected. System captures frame, adds date/time/missing items metadata, saves snapshot to local storage. If storage full, alerts admin.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pic>
        <p:nvPicPr>
          <p:cNvPr id="18" name="Picture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1" y="1005840"/>
            <a:ext cx="4114800" cy="3474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DESIGN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MODELS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8404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Diagram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05840"/>
            <a:ext cx="38404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7947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Level Diagram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0" name="Picture 9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" t="6480" r="3546" b="14276"/>
          <a:stretch>
            <a:fillRect/>
          </a:stretch>
        </p:blipFill>
        <p:spPr bwMode="auto">
          <a:xfrm>
            <a:off x="548641" y="998675"/>
            <a:ext cx="3840480" cy="2620370"/>
          </a:xfrm>
          <a:prstGeom prst="rect">
            <a:avLst/>
          </a:prstGeom>
          <a:ln>
            <a:noFill/>
          </a:ln>
        </p:spPr>
      </p:pic>
      <p:pic>
        <p:nvPicPr>
          <p:cNvPr id="11" name="Picture 10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74" r="49052" b="8030"/>
          <a:stretch>
            <a:fillRect/>
          </a:stretch>
        </p:blipFill>
        <p:spPr bwMode="auto">
          <a:xfrm>
            <a:off x="4754880" y="1005840"/>
            <a:ext cx="3840480" cy="261320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TECHNOLOGY STACK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1005840" cy="1005840"/>
          </a:xfrm>
          <a:prstGeom prst="ellipse">
            <a:avLst/>
          </a:prstGeom>
          <a:solidFill>
            <a:srgbClr val="1E293B"/>
          </a:solidFill>
        </p:spPr>
      </p:sp>
      <p:sp>
        <p:nvSpPr>
          <p:cNvPr id="5" name="Text 3"/>
          <p:cNvSpPr/>
          <p:nvPr/>
        </p:nvSpPr>
        <p:spPr>
          <a:xfrm>
            <a:off x="777240" y="146304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06B6D4"/>
                </a:solidFill>
                <a:latin typeface="Trebuchet MS" panose="020B0603020202020204" pitchFamily="34" charset="0"/>
              </a:rPr>
              <a:t>Python 3.8+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965960"/>
            <a:ext cx="3200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810512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463040"/>
            <a:ext cx="1005840" cy="1005840"/>
          </a:xfrm>
          <a:prstGeom prst="ellipse">
            <a:avLst/>
          </a:prstGeom>
          <a:solidFill>
            <a:srgbClr val="1E293B"/>
          </a:solidFill>
        </p:spPr>
      </p:sp>
      <p:sp>
        <p:nvSpPr>
          <p:cNvPr id="11" name="Text 9"/>
          <p:cNvSpPr/>
          <p:nvPr/>
        </p:nvSpPr>
        <p:spPr>
          <a:xfrm>
            <a:off x="2514600" y="146304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06B6D4"/>
                </a:solidFill>
                <a:latin typeface="Trebuchet MS" panose="020B0603020202020204" pitchFamily="34" charset="0"/>
              </a:rPr>
              <a:t>YOLOv8</a:t>
            </a:r>
            <a:endParaRPr lang="en-US" sz="1100" b="1" dirty="0" smtClean="0">
              <a:solidFill>
                <a:srgbClr val="06B6D4"/>
              </a:solidFill>
              <a:latin typeface="Trebuchet MS" panose="020B0603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 smtClean="0">
                <a:solidFill>
                  <a:srgbClr val="06B6D4"/>
                </a:solidFill>
                <a:latin typeface="Trebuchet MS" panose="020B0603020202020204" pitchFamily="34" charset="0"/>
              </a:rPr>
              <a:t>(</a:t>
            </a:r>
            <a:r>
              <a:rPr lang="en-US" sz="1100" b="1" dirty="0" err="1" smtClean="0">
                <a:solidFill>
                  <a:srgbClr val="06B6D4"/>
                </a:solidFill>
                <a:latin typeface="Trebuchet MS" panose="020B0603020202020204" pitchFamily="34" charset="0"/>
              </a:rPr>
              <a:t>Ultralytics</a:t>
            </a:r>
            <a:r>
              <a:rPr lang="en-US" sz="1100" b="1" dirty="0" smtClean="0">
                <a:solidFill>
                  <a:srgbClr val="06B6D4"/>
                </a:solidFill>
                <a:latin typeface="Trebuchet MS" panose="020B0603020202020204" pitchFamily="34" charset="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606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1965960"/>
            <a:ext cx="3200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810512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1463040"/>
            <a:ext cx="1005840" cy="1005840"/>
          </a:xfrm>
          <a:prstGeom prst="ellipse">
            <a:avLst/>
          </a:prstGeom>
          <a:solidFill>
            <a:srgbClr val="1E293B"/>
          </a:solidFill>
        </p:spPr>
      </p:sp>
      <p:sp>
        <p:nvSpPr>
          <p:cNvPr id="17" name="Text 15"/>
          <p:cNvSpPr/>
          <p:nvPr/>
        </p:nvSpPr>
        <p:spPr>
          <a:xfrm>
            <a:off x="4251960" y="146304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06B6D4"/>
                </a:solidFill>
                <a:latin typeface="Trebuchet MS" panose="020B0603020202020204" pitchFamily="34" charset="0"/>
              </a:rPr>
              <a:t>OpenCV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606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Vision Lib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1965960"/>
            <a:ext cx="3200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810512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1463040"/>
            <a:ext cx="1005840" cy="1005840"/>
          </a:xfrm>
          <a:prstGeom prst="ellipse">
            <a:avLst/>
          </a:prstGeom>
          <a:solidFill>
            <a:srgbClr val="1E293B"/>
          </a:solidFill>
        </p:spPr>
      </p:sp>
      <p:sp>
        <p:nvSpPr>
          <p:cNvPr id="23" name="Text 21"/>
          <p:cNvSpPr/>
          <p:nvPr/>
        </p:nvSpPr>
        <p:spPr>
          <a:xfrm>
            <a:off x="5989320" y="146304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06B6D4"/>
                </a:solidFill>
                <a:latin typeface="Trebuchet MS" panose="020B0603020202020204" pitchFamily="34" charset="0"/>
              </a:rPr>
              <a:t>PyTorch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2606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1965960"/>
            <a:ext cx="3200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1810512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1463040"/>
            <a:ext cx="1005840" cy="1005840"/>
          </a:xfrm>
          <a:prstGeom prst="ellipse">
            <a:avLst/>
          </a:prstGeom>
          <a:solidFill>
            <a:srgbClr val="1E293B"/>
          </a:solidFill>
        </p:spPr>
      </p:sp>
      <p:sp>
        <p:nvSpPr>
          <p:cNvPr id="29" name="Text 27"/>
          <p:cNvSpPr/>
          <p:nvPr/>
        </p:nvSpPr>
        <p:spPr>
          <a:xfrm>
            <a:off x="7726680" y="146304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06B6D4"/>
                </a:solidFill>
                <a:latin typeface="Trebuchet MS" panose="020B0603020202020204" pitchFamily="34" charset="0"/>
              </a:rPr>
              <a:t>Pandas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2606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Tool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657600"/>
            <a:ext cx="8092440" cy="10972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3" name="Text 31"/>
          <p:cNvSpPr/>
          <p:nvPr/>
        </p:nvSpPr>
        <p:spPr>
          <a:xfrm>
            <a:off x="777240" y="3749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HARDWARE </a:t>
            </a:r>
            <a:r>
              <a:rPr lang="en-US" sz="14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&amp; </a:t>
            </a:r>
            <a:r>
              <a:rPr lang="en-US" sz="1400" b="1" dirty="0" smtClean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4114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 GPU 4GB VRAM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788920" y="4114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720p HD CCTV Camera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00600" y="4114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Windows/Ubuntu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12280" y="4114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8GB RAM, 50GB Storage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WHAT MAKES US DIFFERENT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182880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188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Unique Innovation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Unlike existing PPE and face mask detection systems, our solution specifically targets office dress code compliance — a gap in current AI monitoring solutions. No face recognition needed, fully privacy-safe, works with any standard CCTV.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260604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32461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No Face Recognition Needed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5800" y="36118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System checks clothing only — no biometric data stored, complete employee privacy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83280" y="3108960"/>
            <a:ext cx="260604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20440" y="32461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Fully Offline Operation</a:t>
            </a:r>
            <a:endParaRPr lang="en-US" sz="13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20440" y="36118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No cloud, no internet — all processing on local machine, data never leaves premises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17920" y="3108960"/>
            <a:ext cx="260604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32461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Configurable Dress Code Rules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55080" y="36118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Company changes policy? Just update the required items list — no code change needed (Strategy Pattern)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IMPACT &amp; FEASIBILITY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1097280"/>
          </a:xfrm>
          <a:prstGeom prst="rect">
            <a:avLst/>
          </a:prstGeom>
          <a:solidFill>
            <a:srgbClr val="0F172A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06B6D4"/>
                </a:solidFill>
                <a:latin typeface="Trebuchet MS" panose="020B0603020202020204" pitchFamily="34" charset="0"/>
              </a:rPr>
              <a:t>PKR 320K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Trebuchet MS" panose="020B0603020202020204" pitchFamily="34" charset="0"/>
              </a:rPr>
              <a:t>Annual Net Savings (380K benefits - 60K operating)</a:t>
            </a:r>
            <a:endParaRPr lang="en-US" sz="105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06040" cy="1097280"/>
          </a:xfrm>
          <a:prstGeom prst="rect">
            <a:avLst/>
          </a:prstGeom>
          <a:solidFill>
            <a:srgbClr val="0F172A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344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06B6D4"/>
                </a:solidFill>
                <a:latin typeface="Trebuchet MS" panose="020B0603020202020204" pitchFamily="34" charset="0"/>
              </a:rPr>
              <a:t>1.25 Years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FFFFFF"/>
                </a:solidFill>
                <a:latin typeface="Trebuchet MS" panose="020B060302020202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Payback Period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606040" cy="1097280"/>
          </a:xfrm>
          <a:prstGeom prst="rect">
            <a:avLst/>
          </a:prstGeom>
          <a:solidFill>
            <a:srgbClr val="0F172A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2344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06B6D4"/>
                </a:solidFill>
                <a:latin typeface="Trebuchet MS" panose="020B0603020202020204" pitchFamily="34" charset="0"/>
              </a:rPr>
              <a:t>82.6%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16916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First Year Investment Recovery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384048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6517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Impact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rebuchet MS" panose="020B0603020202020204" pitchFamily="34" charset="0"/>
              </a:rPr>
              <a:t>Replaces 1 security guard — saves PKR 240K/year </a:t>
            </a:r>
            <a:r>
              <a:rPr lang="en-US" sz="1200" dirty="0" smtClean="0">
                <a:latin typeface="Trebuchet MS" panose="020B0603020202020204" pitchFamily="34" charset="0"/>
              </a:rPr>
              <a:t>salary</a:t>
            </a:r>
            <a:endParaRPr lang="en-US" sz="1200" dirty="0" smtClean="0">
              <a:latin typeface="Trebuchet MS" panose="020B06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rebuchet MS" panose="020B0603020202020204" pitchFamily="34" charset="0"/>
              </a:rPr>
              <a:t>HR saves 60K/year in manual monitoring </a:t>
            </a:r>
            <a:r>
              <a:rPr lang="en-US" sz="1200" dirty="0" smtClean="0">
                <a:latin typeface="Trebuchet MS" panose="020B0603020202020204" pitchFamily="34" charset="0"/>
              </a:rPr>
              <a:t>time</a:t>
            </a:r>
            <a:endParaRPr lang="en-US" sz="1200" dirty="0" smtClean="0">
              <a:latin typeface="Trebuchet MS" panose="020B06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rebuchet MS" panose="020B0603020202020204" pitchFamily="34" charset="0"/>
              </a:rPr>
              <a:t>Automated reports save admin hours — </a:t>
            </a:r>
            <a:r>
              <a:rPr lang="en-US" sz="1200" dirty="0" smtClean="0">
                <a:latin typeface="Trebuchet MS" panose="020B0603020202020204" pitchFamily="34" charset="0"/>
              </a:rPr>
              <a:t>30K/year</a:t>
            </a:r>
            <a:endParaRPr lang="en-US" sz="1200" dirty="0" smtClean="0">
              <a:latin typeface="Trebuchet MS" panose="020B06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rebuchet MS" panose="020B0603020202020204" pitchFamily="34" charset="0"/>
              </a:rPr>
              <a:t>Improved employee discipline — fewer violations over time</a:t>
            </a:r>
            <a:endParaRPr lang="en-US" sz="1200" dirty="0" smtClean="0">
              <a:latin typeface="Trebuchet MS" panose="020B0603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384048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6517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Feasibility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rebuchet MS" panose="020B0603020202020204" pitchFamily="34" charset="0"/>
              </a:rPr>
              <a:t>Total development cost only PKR 400K (one-time</a:t>
            </a:r>
            <a:r>
              <a:rPr lang="en-US" sz="1200" dirty="0" smtClean="0">
                <a:latin typeface="Trebuchet MS" panose="020B0603020202020204" pitchFamily="34" charset="0"/>
              </a:rPr>
              <a:t>)</a:t>
            </a:r>
            <a:endParaRPr lang="en-US" sz="1200" dirty="0" smtClean="0">
              <a:latin typeface="Trebuchet MS" panose="020B06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rebuchet MS" panose="020B0603020202020204" pitchFamily="34" charset="0"/>
              </a:rPr>
              <a:t>Uses proven open-source tech — Python, YOLOv8, </a:t>
            </a:r>
            <a:r>
              <a:rPr lang="en-US" sz="1200" dirty="0" err="1" smtClean="0">
                <a:latin typeface="Trebuchet MS" panose="020B0603020202020204" pitchFamily="34" charset="0"/>
              </a:rPr>
              <a:t>OpenCV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rebuchet MS" panose="020B0603020202020204" pitchFamily="34" charset="0"/>
              </a:rPr>
              <a:t>Already tested with live CCTV </a:t>
            </a:r>
            <a:r>
              <a:rPr lang="en-US" sz="1200" dirty="0" smtClean="0">
                <a:latin typeface="Trebuchet MS" panose="020B0603020202020204" pitchFamily="34" charset="0"/>
              </a:rPr>
              <a:t>feed</a:t>
            </a:r>
            <a:endParaRPr lang="en-US" sz="1200" dirty="0" smtClean="0">
              <a:latin typeface="Trebuchet MS" panose="020B06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rebuchet MS" panose="020B0603020202020204" pitchFamily="34" charset="0"/>
              </a:rPr>
              <a:t>COCOMO estimate: 5.1 months, 1-2 Developers</a:t>
            </a:r>
            <a:endParaRPr lang="en-US" sz="1200" dirty="0" smtClean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rebuchet MS" panose="020B0603020202020204" pitchFamily="34" charset="-122"/>
                <a:cs typeface="Times New Roman" panose="02020603050405020304" pitchFamily="18" charset="0"/>
              </a:rPr>
              <a:t>FUTURE SCOPE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93192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463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rebuchet MS" panose="020B0603020202020204" pitchFamily="34" charset="0"/>
              </a:rPr>
              <a:t>Multi-Camera Support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Current version supports single camera — future version can handle multiple entrances simultaneously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463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" name="Text 8"/>
          <p:cNvSpPr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rebuchet MS" panose="020B0603020202020204" pitchFamily="34" charset="0"/>
              </a:rPr>
              <a:t>Database Integration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895" y="16002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Move from local file storage to MySQL/SQLite for better data management and querying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93192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80360"/>
            <a:ext cx="54864" cy="1463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4" name="Text 12"/>
          <p:cNvSpPr/>
          <p:nvPr/>
        </p:nvSpPr>
        <p:spPr>
          <a:xfrm>
            <a:off x="777240" y="30175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rebuchet MS" panose="020B0603020202020204" pitchFamily="34" charset="0"/>
              </a:rPr>
              <a:t>Email/SMS Alerts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Auto-notify HR or admin when violation detected — real-time alerts on phone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54864" cy="1463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8" name="Text 16"/>
          <p:cNvSpPr/>
          <p:nvPr/>
        </p:nvSpPr>
        <p:spPr>
          <a:xfrm>
            <a:off x="4983480" y="30175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rebuchet MS" panose="020B0603020202020204" pitchFamily="34" charset="0"/>
              </a:rPr>
              <a:t>PPE Detection for Factories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rebuchet MS" panose="020B0603020202020204" pitchFamily="34" charset="0"/>
              </a:rPr>
              <a:t>Same model can be retrained for helmet, safety vest, gloves detection in industrial settings</a:t>
            </a:r>
            <a:endParaRPr lang="en-US" sz="12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891B2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INVEST IN US?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2560320" cy="10058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" name="Text 4"/>
          <p:cNvSpPr/>
          <p:nvPr/>
        </p:nvSpPr>
        <p:spPr>
          <a:xfrm>
            <a:off x="640080" y="2468880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Solves a Real Problem:</a:t>
            </a:r>
            <a:endParaRPr lang="en-US" sz="1400" b="1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Every 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organization with dress code needs this — huge market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474720" y="2468880"/>
            <a:ext cx="2560320" cy="10058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9" name="Text 6"/>
          <p:cNvSpPr/>
          <p:nvPr/>
        </p:nvSpPr>
        <p:spPr>
          <a:xfrm>
            <a:off x="3474720" y="2468880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Low Cost, High Return:</a:t>
            </a:r>
            <a:endParaRPr lang="en-US" sz="1400" b="1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PKR 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400K investment, pays back in 1.25 years, saves 320K annually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309360" y="2468880"/>
            <a:ext cx="2560320" cy="10058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1" name="Text 8"/>
          <p:cNvSpPr/>
          <p:nvPr/>
        </p:nvSpPr>
        <p:spPr>
          <a:xfrm>
            <a:off x="6309360" y="2468880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Scalable and Adaptable:</a:t>
            </a:r>
            <a:endParaRPr lang="en-US" sz="1400" b="1" dirty="0" smtClean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Multiple 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cameras, multiple locations,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retrainable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for any industry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0" y="3703320"/>
            <a:ext cx="27432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4340</Words>
  <Application>WPS Presentation</Application>
  <PresentationFormat>On-screen Show (16:9)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Trebuchet MS</vt:lpstr>
      <vt:lpstr>Tahoma</vt:lpstr>
      <vt:lpstr>Calibri</vt:lpstr>
      <vt:lpstr>Calibri</vt:lpstr>
      <vt:lpstr>Trebuchet MS</vt:lpstr>
      <vt:lpstr>Trebuchet MS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Dress Code Compliance System - Pitch Deck</dc:title>
  <dc:creator>Group 015</dc:creator>
  <dc:subject>PptxGenJS Presentation</dc:subject>
  <cp:lastModifiedBy>ayesha manzoor</cp:lastModifiedBy>
  <cp:revision>15</cp:revision>
  <dcterms:created xsi:type="dcterms:W3CDTF">2026-04-28T15:01:00Z</dcterms:created>
  <dcterms:modified xsi:type="dcterms:W3CDTF">2026-10-02T17:38:10Z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87A65EA4315144A795A551A6D10A766D_12</vt:lpwstr>
  </property>
  <property fmtid="{D5CDD505-2E9C-101B-9397-08002B2CF9AE}" pid="3" name="KSOProductBuildVer">
    <vt:lpwstr>1033-12.1.0.28485</vt:lpwstr>
  </property>
</Properties>
</file>